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731520"/>
            <a:ext cx="108813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31520"/>
            <a:ext cx="164592" cy="5303520"/>
          </a:xfrm>
          <a:prstGeom prst="rect">
            <a:avLst/>
          </a:prstGeom>
          <a:solidFill>
            <a:srgbClr val="14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4300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12A4A"/>
                </a:solidFill>
                <a:latin typeface="Aptos Display"/>
              </a:rPr>
              <a:t>RedNorte</a:t>
            </a:r>
          </a:p>
          <a:p>
            <a:pPr>
              <a:defRPr sz="2400">
                <a:solidFill>
                  <a:srgbClr val="147E7C"/>
                </a:solidFill>
                <a:latin typeface="Aptos Display"/>
              </a:defRPr>
            </a:pPr>
            <a:r>
              <a:t>Plataforma de gesti?n de pacientes y citas m?dicas</a:t>
            </a:r>
          </a:p>
          <a:p>
            <a:pPr>
              <a:defRPr sz="1400">
                <a:solidFill>
                  <a:srgbClr val="64748B"/>
                </a:solidFill>
                <a:latin typeface="Aptos"/>
              </a:defRPr>
            </a:pPr>
            <a:r>
              <a:t>Presentaci?n de apoyo al video | Arquitectura, demo funcional, APIs y pruebas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566160"/>
            <a:ext cx="3017520" cy="640080"/>
          </a:xfrm>
          <a:prstGeom prst="roundRect">
            <a:avLst/>
          </a:prstGeom>
          <a:solidFill>
            <a:srgbClr val="14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Arquitectura de microservicios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566160"/>
            <a:ext cx="3017520" cy="640080"/>
          </a:xfrm>
          <a:prstGeom prst="roundRect">
            <a:avLst/>
          </a:prstGeom>
          <a:solidFill>
            <a:srgbClr val="F2B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Flujo cl?nico completo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566160"/>
            <a:ext cx="3017520" cy="640080"/>
          </a:xfrm>
          <a:prstGeom prst="round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Pruebas verificables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Objetivo: demostrar valor operativo, funcionamiento real y evidencia t?cnica alineada a la pauta de evaluaci?n.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RedNorte | Parcial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Problema y valor de negocio</a:t>
            </a:r>
          </a:p>
          <a:p>
            <a:pPr algn="r">
              <a:defRPr sz="1050">
                <a:solidFill>
                  <a:srgbClr val="D7E2F0"/>
                </a:solidFill>
                <a:latin typeface="Aptos"/>
              </a:defRPr>
            </a:pPr>
            <a:r>
              <a:t>Por qu? RedNorte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7E7C"/>
                </a:solidFill>
                <a:latin typeface="Aptos Display"/>
              </a:defRPr>
            </a:pPr>
            <a:r>
              <a:t>Dolores que resuelve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03520" cy="4480560"/>
          </a:xfrm>
          <a:prstGeom prst="rect">
            <a:avLst/>
          </a:prstGeom>
          <a:noFill/>
        </p:spPr>
        <p:txBody>
          <a:bodyPr wrap="square" lIns="0" rIns="0" tIns="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Registro lento y disperso de pacientes.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Duplicidad de informaci?n entre procesos.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Baja visibilidad de la atenci?n y la agenda.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Necesidad de evidencia t?cnica y trazabilidad.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43000"/>
            <a:ext cx="5120640" cy="4663440"/>
          </a:xfrm>
          <a:prstGeom prst="roundRect">
            <a:avLst/>
          </a:prstGeom>
          <a:solidFill>
            <a:srgbClr val="F5F8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2000" b="1">
                <a:solidFill>
                  <a:srgbClr val="112A4A"/>
                </a:solidFill>
              </a:defRPr>
            </a:pPr>
            <a:r>
              <a:t>Propuesta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Centralizar pacientes y citas en una sola plataforma.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Disminuir fricci?n operativa en la gesti?n diaria.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Soportar procesos cr?ticos con APIs y pruebas reales.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Dejar una base escalable para futuras mejoras.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RedNorte | Parcial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Arquitectura de la soluci?n</a:t>
            </a:r>
          </a:p>
          <a:p>
            <a:pPr algn="r">
              <a:defRPr sz="1050">
                <a:solidFill>
                  <a:srgbClr val="D7E2F0"/>
                </a:solidFill>
                <a:latin typeface="Aptos"/>
              </a:defRPr>
            </a:pPr>
            <a:r>
              <a:t>Separaci?n clara de responsabilidades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2148840" cy="1005840"/>
          </a:xfrm>
          <a:prstGeom prst="roundRect">
            <a:avLst/>
          </a:prstGeom>
          <a:solidFill>
            <a:srgbClr val="E7F8F7"/>
          </a:solidFill>
          <a:ln>
            <a:solidFill>
              <a:srgbClr val="11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2A4A"/>
                </a:solidFill>
              </a:defRPr>
            </a:pPr>
            <a:r>
              <a:t>Frontend React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148840" cy="1005840"/>
          </a:xfrm>
          <a:prstGeom prst="roundRect">
            <a:avLst/>
          </a:prstGeom>
          <a:solidFill>
            <a:srgbClr val="E2F8F7"/>
          </a:solidFill>
          <a:ln>
            <a:solidFill>
              <a:srgbClr val="14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7E7C"/>
                </a:solidFill>
              </a:defRPr>
            </a:pPr>
            <a:r>
              <a:t>BFF Spring Boot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828800"/>
            <a:ext cx="2148840" cy="1005840"/>
          </a:xfrm>
          <a:prstGeom prst="roundRect">
            <a:avLst/>
          </a:prstGeom>
          <a:solidFill>
            <a:srgbClr val="FFF4E0"/>
          </a:solidFill>
          <a:ln>
            <a:solidFill>
              <a:srgbClr val="F2B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2B02D"/>
                </a:solidFill>
              </a:defRPr>
            </a:pPr>
            <a:r>
              <a:t>Ms. Pacientes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828800"/>
            <a:ext cx="2148840" cy="1005840"/>
          </a:xfrm>
          <a:prstGeom prst="roundRect">
            <a:avLst/>
          </a:prstGeom>
          <a:solidFill>
            <a:srgbClr val="ECF2FF"/>
          </a:solidFill>
          <a:ln>
            <a:solidFill>
              <a:srgbClr val="11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2A4A"/>
                </a:solidFill>
              </a:defRPr>
            </a:pPr>
            <a:r>
              <a:t>Ms. Citas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48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4748B"/>
                </a:solidFill>
              </a:defRPr>
            </a:pPr>
            <a: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148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4748B"/>
                </a:solidFill>
              </a:defRPr>
            </a:pPr>
            <a: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48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4748B"/>
                </a:solidFill>
              </a:defRPr>
            </a:pPr>
            <a: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7E7C"/>
                </a:solidFill>
                <a:latin typeface="Aptos Display"/>
              </a:defRPr>
            </a:pPr>
            <a:r>
              <a:t>Qu? aporta esta arquitectura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972800" cy="1554480"/>
          </a:xfrm>
          <a:prstGeom prst="rect">
            <a:avLst/>
          </a:prstGeom>
          <a:noFill/>
        </p:spPr>
        <p:txBody>
          <a:bodyPr wrap="square" lIns="0" rIns="0" tIns="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Eureka facilita descubrimiento y registro de servicios.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El BFF protege al frontend de cambios internos.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Los microservicios de dominio pueden evolucionar por separado.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La plataforma queda lista para crecer sin reescritura total.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RedNorte | Parcial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Flujo funcional demostrado en la interfaz</a:t>
            </a:r>
          </a:p>
          <a:p>
            <a:pPr algn="r">
              <a:defRPr sz="1050">
                <a:solidFill>
                  <a:srgbClr val="D7E2F0"/>
                </a:solidFill>
                <a:latin typeface="Aptos"/>
              </a:defRPr>
            </a:pPr>
            <a:r>
              <a:t>Lo que se muestra en el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2B02D"/>
                </a:solidFill>
                <a:latin typeface="Aptos Display"/>
              </a:defRPr>
            </a:pPr>
            <a:r>
              <a:t>Escenario de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4663440"/>
          </a:xfrm>
          <a:prstGeom prst="rect">
            <a:avLst/>
          </a:prstGeom>
          <a:noFill/>
        </p:spPr>
        <p:txBody>
          <a:bodyPr wrap="square" lIns="0" rIns="0" tIns="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Alta de paciente.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B?squeda y actualizaci?n de datos.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Alta de cita asociada.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Edici?n y eliminaci?n cuando corresponde.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43000"/>
            <a:ext cx="4937760" cy="4800600"/>
          </a:xfrm>
          <a:prstGeom prst="roundRect">
            <a:avLst/>
          </a:prstGeom>
          <a:solidFill>
            <a:srgbClr val="E7F8F7"/>
          </a:solidFill>
          <a:ln>
            <a:solidFill>
              <a:srgbClr val="C3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800" b="1">
                <a:solidFill>
                  <a:srgbClr val="112A4A"/>
                </a:solidFill>
              </a:defRPr>
            </a:pPr>
            <a:r>
              <a:t>Mensaje para narrar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Registrar un paciente toma pocos pasos.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La informaci?n se puede buscar y corregir en segundos.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La cita queda vinculada al paciente de forma clara.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Esto refleja un flujo cl?nico simple, r?pido y trazable.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RedNorte | Parcial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APIs y validaci?n con Postman</a:t>
            </a:r>
          </a:p>
          <a:p>
            <a:pPr algn="r">
              <a:defRPr sz="1050">
                <a:solidFill>
                  <a:srgbClr val="D7E2F0"/>
                </a:solidFill>
                <a:latin typeface="Aptos"/>
              </a:defRPr>
            </a:pPr>
            <a:r>
              <a:t>Evidencia de funcionamiento del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7E7C"/>
                </a:solidFill>
                <a:latin typeface="Aptos Display"/>
              </a:defRPr>
            </a:pPr>
            <a:r>
              <a:t>Requests que conviene mostrar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03520" cy="4663440"/>
          </a:xfrm>
          <a:prstGeom prst="rect">
            <a:avLst/>
          </a:prstGeom>
          <a:noFill/>
        </p:spPr>
        <p:txBody>
          <a:bodyPr wrap="square" lIns="0" rIns="0" tIns="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GET /api/pacientes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POST /api/pacientes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PUT /api/pacientes/{id}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GET /api/citas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POST /api/citas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PUT /api/citas/{id}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43000"/>
            <a:ext cx="5074920" cy="4800600"/>
          </a:xfrm>
          <a:prstGeom prst="roundRect">
            <a:avLst/>
          </a:prstGeom>
          <a:solidFill>
            <a:srgbClr val="F5F8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800" b="1">
                <a:solidFill>
                  <a:srgbClr val="112A4A"/>
                </a:solidFill>
              </a:defRPr>
            </a:pPr>
            <a:r>
              <a:t>Qu? validar en la demo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C?digo HTTP correcto en cada request.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Respuesta JSON coherente con la operaci?n.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Relaci?n citas por paciente.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Backend aislado del frontend para validaci?n t?cnica.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RedNorte | Parcial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Pruebas obligatorias y evidencia</a:t>
            </a:r>
          </a:p>
          <a:p>
            <a:pPr algn="r">
              <a:defRPr sz="1050">
                <a:solidFill>
                  <a:srgbClr val="D7E2F0"/>
                </a:solidFill>
                <a:latin typeface="Aptos"/>
              </a:defRPr>
            </a:pPr>
            <a:r>
              <a:t>Lo que pide la pauta de evaluaci?n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14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800" b="1">
                <a:solidFill>
                  <a:srgbClr val="147E7C"/>
                </a:solidFill>
              </a:defRPr>
            </a:pPr>
            <a:r>
              <a:t>Unitarias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Validan l?gica aislada.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Cubren controladores y servicios.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71600"/>
            <a:ext cx="3429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2B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800" b="1">
                <a:solidFill>
                  <a:srgbClr val="F2B02D"/>
                </a:solidFill>
              </a:defRPr>
            </a:pPr>
            <a:r>
              <a:t>Integraci?n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Validan comunicaci?n entre capas.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Comprueban flujo real entre servicios.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371600"/>
            <a:ext cx="3429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11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800" b="1">
                <a:solidFill>
                  <a:srgbClr val="112A4A"/>
                </a:solidFill>
              </a:defRPr>
            </a:pPr>
            <a:r>
              <a:t>End to end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Validan la experiencia completa.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Cubren el recorrido desde UI hasta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7E7C"/>
                </a:solidFill>
                <a:latin typeface="Aptos Display"/>
              </a:defRPr>
            </a:pPr>
            <a:r>
              <a:t>Mensaje clave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lIns="0" rIns="0" tIns="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Los casos se enfocan en procesos cr?ticos del negocio y dejan evidencia verificable.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RedNorte | Parcial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Resultados, hallazgos y mejoras</a:t>
            </a:r>
          </a:p>
          <a:p>
            <a:pPr algn="r">
              <a:defRPr sz="1050">
                <a:solidFill>
                  <a:srgbClr val="D7E2F0"/>
                </a:solidFill>
                <a:latin typeface="Aptos"/>
              </a:defRPr>
            </a:pPr>
            <a:r>
              <a:t>Qu? se aprendi? y qu? qued? resuelto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2B02D"/>
                </a:solidFill>
                <a:latin typeface="Aptos Display"/>
              </a:defRPr>
            </a:pPr>
            <a: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4663440"/>
          </a:xfrm>
          <a:prstGeom prst="rect">
            <a:avLst/>
          </a:prstGeom>
          <a:noFill/>
        </p:spPr>
        <p:txBody>
          <a:bodyPr wrap="square" lIns="0" rIns="0" tIns="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La soluci?n queda funcional y estable.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Se document? la evidencia de pruebas.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Se reforz? la limpieza de artefactos no ?tiles.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Se dej? el flujo listo para grabaci?n y defensa.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43000"/>
            <a:ext cx="4892040" cy="4800600"/>
          </a:xfrm>
          <a:prstGeom prst="roundRect">
            <a:avLst/>
          </a:prstGeom>
          <a:solidFill>
            <a:srgbClr val="F6F9FC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800" b="1">
                <a:solidFill>
                  <a:srgbClr val="112A4A"/>
                </a:solidFill>
              </a:defRPr>
            </a:pPr>
            <a:r>
              <a:t>Qu? conviene decir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Se identificaron hallazgos durante el proceso.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Se aplicaron mejoras concretas y se revalidaron.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La plataforma queda preparada para demostrar valor.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RedNorte | Parcial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914400"/>
            <a:ext cx="99669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20040"/>
          <a:lstStyle/>
          <a:p>
            <a:pPr algn="ctr">
              <a:defRPr sz="2800" b="1">
                <a:solidFill>
                  <a:srgbClr val="112A4A"/>
                </a:solidFill>
              </a:defRPr>
            </a:pPr>
            <a:r>
              <a:t>Cierre</a:t>
            </a:r>
          </a:p>
          <a:p>
            <a:pPr algn="ctr">
              <a:defRPr sz="2000">
                <a:solidFill>
                  <a:srgbClr val="147E7C"/>
                </a:solidFill>
              </a:defRPr>
            </a:pPr>
            <a:r>
              <a:t>RedNorte queda presentado como una soluci?n funcional, documentada y validada.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Arquitectura de microservicios clara.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Flujo de negocio demostrado de punta a punta.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Pruebas obligatorias cubiertas con evidencia.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Presentaci?n lista para acompa?ar el video.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5669280"/>
            <a:ext cx="8503920" cy="594360"/>
          </a:xfrm>
          <a:prstGeom prst="roundRect">
            <a:avLst/>
          </a:prstGeom>
          <a:solidFill>
            <a:srgbClr val="F2B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Soporte visual para el video de exposici?n y para la revisi?n de la pauta.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